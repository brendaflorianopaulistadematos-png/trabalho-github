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43800" y="0"/>
            <a:ext cx="4645152" cy="6858000"/>
          </a:xfrm>
          <a:prstGeom prst="rect">
            <a:avLst/>
          </a:prstGeom>
          <a:solidFill>
            <a:srgbClr val="0A1734"/>
          </a:solidFill>
          <a:ln>
            <a:solidFill>
              <a:srgbClr val="0A17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777240"/>
            <a:ext cx="3931920" cy="4251960"/>
          </a:xfrm>
          <a:prstGeom prst="rect">
            <a:avLst/>
          </a:prstGeom>
          <a:solidFill>
            <a:srgbClr val="030918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56448" y="1024128"/>
            <a:ext cx="3337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2AC4FF"/>
                </a:solidFill>
                <a:latin typeface="Consolas"/>
              </a:defRPr>
            </a:pPr>
            <a:r>
              <a:t>01  const github =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448" y="1444752"/>
            <a:ext cx="3337560" cy="3063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DE2AA"/>
                </a:solidFill>
                <a:latin typeface="Consolas"/>
              </a:defRPr>
            </a:pPr>
            <a:r>
              <a:t>02    colaboração: true,\n03    versões: "controladas",\n04    projetos: "compartilhados",\n05    comunidade: "global"\n06  };\n\n07  function criar() {\n08    return "juntos";\n09  }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1325880" cy="1325880"/>
          </a:xfrm>
          <a:prstGeom prst="ellipse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627632"/>
            <a:ext cx="731520" cy="731520"/>
          </a:xfrm>
          <a:prstGeom prst="ellipse">
            <a:avLst/>
          </a:prstGeom>
          <a:solidFill>
            <a:srgbClr val="050C1F"/>
          </a:solidFill>
          <a:ln>
            <a:solidFill>
              <a:srgbClr val="050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792224"/>
            <a:ext cx="429768" cy="429768"/>
          </a:xfrm>
          <a:prstGeom prst="ellipse">
            <a:avLst/>
          </a:prstGeom>
          <a:solidFill>
            <a:srgbClr val="F5F8FF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353312"/>
            <a:ext cx="4663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4800" b="1">
                <a:solidFill>
                  <a:srgbClr val="F5F8F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612648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0">
                <a:solidFill>
                  <a:srgbClr val="AEC0E0"/>
                </a:solidFill>
                <a:latin typeface="Aptos"/>
              </a:defRPr>
            </a:pPr>
            <a:r>
              <a:t>Uma ferramenta para o</a:t>
            </a:r>
          </a:p>
          <a:p>
            <a:pPr algn="l">
              <a:spcAft>
                <a:spcPts val="700"/>
              </a:spcAft>
              <a:defRPr sz="2300" b="0">
                <a:solidFill>
                  <a:srgbClr val="AEC0E0"/>
                </a:solidFill>
                <a:latin typeface="Aptos"/>
              </a:defRPr>
            </a:pPr>
            <a:r>
              <a:t>desenvolvimento de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794760"/>
            <a:ext cx="3840480" cy="32004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33087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7148FF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96112" y="4480560"/>
            <a:ext cx="5303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Isabella Dantas Felix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Brenda Floriano Paulista de Matos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532120"/>
            <a:ext cx="3291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2AC4FF"/>
                </a:solidFill>
                <a:latin typeface="Aptos"/>
              </a:defRPr>
            </a:pPr>
            <a:r>
              <a:t>TURMA  •  2º ano 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ithub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298448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01 / CONCEITO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O que é o GitHub?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54864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F5F8FF"/>
                </a:solidFill>
                <a:latin typeface="Aptos"/>
              </a:defRPr>
            </a:pPr>
            <a:r>
              <a:t>O GitHub é uma plataforma online usada para guardar, organizar e compartilhar códigos e projetos de programação.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57600"/>
            <a:ext cx="53035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AEC0E0"/>
                </a:solidFill>
                <a:latin typeface="Aptos"/>
              </a:defRPr>
            </a:pPr>
            <a:r>
              <a:t>Ele funciona como um espaço de trabalho em que programadores podem acompanhar mudanças e colaborar no mesmo projeto.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874519"/>
            <a:ext cx="4343400" cy="3246120"/>
          </a:xfrm>
          <a:prstGeom prst="roundRect">
            <a:avLst/>
          </a:prstGeom>
          <a:solidFill>
            <a:srgbClr val="0D1F4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21284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2AC4FF"/>
                </a:solidFill>
                <a:latin typeface="Aptos"/>
              </a:defRPr>
            </a:pPr>
            <a:r>
              <a:t>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338328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8FF"/>
                </a:solidFill>
                <a:latin typeface="Consolas"/>
              </a:defRPr>
            </a:pPr>
            <a:r>
              <a:t>index.html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8FF"/>
                </a:solidFill>
                <a:latin typeface="Consolas"/>
              </a:defRPr>
            </a:pPr>
            <a:r>
              <a:t>style.css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8FF"/>
                </a:solidFill>
                <a:latin typeface="Consolas"/>
              </a:defRPr>
            </a:pPr>
            <a:r>
              <a:t>script.js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8FF"/>
                </a:solidFill>
                <a:latin typeface="Consolas"/>
              </a:defRPr>
            </a:pPr>
            <a:r>
              <a:t>README.md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681728"/>
            <a:ext cx="3611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AEC0E0"/>
                </a:solidFill>
                <a:latin typeface="Aptos"/>
              </a:defRPr>
            </a:pPr>
            <a:r>
              <a:t>Arquivos organizados em um repositório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02 /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Para que serve?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109728" cy="566928"/>
          </a:xfrm>
          <a:prstGeom prst="round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1947672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Guardar projetos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49424"/>
            <a:ext cx="44805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AEC0E0"/>
                </a:solidFill>
                <a:latin typeface="Aptos"/>
              </a:defRPr>
            </a:pPr>
            <a:r>
              <a:t>Manter os arquivos reunidos em um só lugar.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27248"/>
            <a:ext cx="109728" cy="566928"/>
          </a:xfrm>
          <a:prstGeom prst="round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0896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Controlar versões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410712"/>
            <a:ext cx="44805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AEC0E0"/>
                </a:solidFill>
                <a:latin typeface="Aptos"/>
              </a:defRPr>
            </a:pPr>
            <a:r>
              <a:t>Ver o que mudou e recuperar versões anteriores.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88536"/>
            <a:ext cx="109728" cy="566928"/>
          </a:xfrm>
          <a:prstGeom prst="round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27024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8FF"/>
                </a:solidFill>
                <a:latin typeface="Aptos"/>
              </a:defRPr>
            </a:pPr>
            <a:r>
              <a:t>Trabalhar em equipe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572000"/>
            <a:ext cx="44805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AEC0E0"/>
                </a:solidFill>
                <a:latin typeface="Aptos"/>
              </a:defRPr>
            </a:pPr>
            <a:r>
              <a:t>Permitir que várias pessoas contribuam para o mesmo projeto.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920240"/>
            <a:ext cx="4389120" cy="3429000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267712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2AC4FF"/>
                </a:solidFill>
                <a:latin typeface="Aptos"/>
              </a:defRPr>
            </a:pPr>
            <a:r>
              <a:t>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697480"/>
            <a:ext cx="338328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5F8FF"/>
                </a:solidFill>
                <a:latin typeface="Consolas"/>
              </a:defRPr>
            </a:pPr>
            <a:r>
              <a:t>+ ideia</a:t>
            </a:r>
          </a:p>
          <a:p>
            <a:pPr algn="l">
              <a:spcAft>
                <a:spcPts val="700"/>
              </a:spcAft>
              <a:defRPr sz="2200" b="1">
                <a:solidFill>
                  <a:srgbClr val="F5F8FF"/>
                </a:solidFill>
                <a:latin typeface="Consolas"/>
              </a:defRPr>
            </a:pPr>
            <a:r>
              <a:t>+ colaboração</a:t>
            </a:r>
          </a:p>
          <a:p>
            <a:pPr algn="l">
              <a:spcAft>
                <a:spcPts val="700"/>
              </a:spcAft>
              <a:defRPr sz="2200" b="1">
                <a:solidFill>
                  <a:srgbClr val="F5F8FF"/>
                </a:solidFill>
                <a:latin typeface="Consolas"/>
              </a:defRPr>
            </a:pPr>
            <a:r>
              <a:t>+ histórico</a:t>
            </a:r>
          </a:p>
          <a:p>
            <a:pPr algn="l">
              <a:spcAft>
                <a:spcPts val="700"/>
              </a:spcAft>
              <a:defRPr sz="2200" b="1">
                <a:solidFill>
                  <a:srgbClr val="F5F8FF"/>
                </a:solidFill>
                <a:latin typeface="Consolas"/>
              </a:defRPr>
            </a:pPr>
            <a:r>
              <a:t>= projeto organizado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03 / FERRAMENTAS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Principais funcionalidades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4892040" cy="1417320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167128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Repositório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587752"/>
            <a:ext cx="43159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Local onde ficam os arquivos do projeto.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65960"/>
            <a:ext cx="4892040" cy="1417320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167128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587752"/>
            <a:ext cx="43159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Registro de uma alteração feita no código.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4892040" cy="1417320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087368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507992"/>
            <a:ext cx="43159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Uma linha de trabalho separada para testar mudanças.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4892040" cy="1417320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087368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Pull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507992"/>
            <a:ext cx="43159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Pedido para revisar e integrar alterações ao projeto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04 / EXEMPLO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Como funciona na prática?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10312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94767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Criar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AEC0E0"/>
                </a:solidFill>
                <a:latin typeface="Aptos"/>
              </a:defRPr>
            </a:pPr>
            <a:r>
              <a:t>O grupo cria um repositório para o site da escola.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2898648"/>
            <a:ext cx="566928" cy="566928"/>
          </a:xfrm>
          <a:prstGeom prst="ellipse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3580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88036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Adicionar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880360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AEC0E0"/>
                </a:solidFill>
                <a:latin typeface="Aptos"/>
              </a:defRPr>
            </a:pPr>
            <a:r>
              <a:t>Os integrantes enviam arquivos e códigos.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831335"/>
            <a:ext cx="566928" cy="566928"/>
          </a:xfrm>
          <a:prstGeom prst="ellipse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68496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813048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Registrar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813048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AEC0E0"/>
                </a:solidFill>
                <a:latin typeface="Aptos"/>
              </a:defRPr>
            </a:pPr>
            <a:r>
              <a:t>Cada mudança importante pode ser salva em um commit.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764024"/>
            <a:ext cx="566928" cy="566928"/>
          </a:xfrm>
          <a:prstGeom prst="ellipse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0118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5F8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745736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Compartilhar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745736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AEC0E0"/>
                </a:solidFill>
                <a:latin typeface="Aptos"/>
              </a:defRPr>
            </a:pPr>
            <a:r>
              <a:t>O grupo revisa as alterações e melhora o projeto.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057400"/>
            <a:ext cx="1325880" cy="3429000"/>
          </a:xfrm>
          <a:prstGeom prst="roundRect">
            <a:avLst/>
          </a:prstGeom>
          <a:solidFill>
            <a:srgbClr val="0D1F4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926080"/>
            <a:ext cx="9601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TEAM</a:t>
            </a:r>
          </a:p>
          <a:p>
            <a:pPr algn="ctr">
              <a:spcAft>
                <a:spcPts val="700"/>
              </a:spcAft>
              <a:defRPr sz="1800" b="1">
                <a:solidFill>
                  <a:srgbClr val="2AC4FF"/>
                </a:solidFill>
                <a:latin typeface="Aptos"/>
              </a:defRPr>
            </a:pPr>
            <a:r>
              <a:t>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05 / BENEFÍCIOS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Vantagens do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011680"/>
            <a:ext cx="4892040" cy="1261872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212848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Organização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63347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Arquivos e histórico ficam reunidos.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4892040" cy="1261872"/>
          </a:xfrm>
          <a:prstGeom prst="roundRect">
            <a:avLst/>
          </a:prstGeom>
          <a:solidFill>
            <a:srgbClr val="0A1734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212848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63347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As alterações ficam registradas.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4892040" cy="1261872"/>
          </a:xfrm>
          <a:prstGeom prst="roundRect">
            <a:avLst/>
          </a:prstGeom>
          <a:solidFill>
            <a:srgbClr val="0A173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904488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Colaboração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32511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Facilita o trabalho em grupo.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03320"/>
            <a:ext cx="4892040" cy="1261872"/>
          </a:xfrm>
          <a:prstGeom prst="roundRect">
            <a:avLst/>
          </a:prstGeom>
          <a:solidFill>
            <a:srgbClr val="0A1734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904488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Compartilhamento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32511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AEC0E0"/>
                </a:solidFill>
                <a:latin typeface="Aptos"/>
              </a:defRPr>
            </a:pPr>
            <a:r>
              <a:t>Projetos podem ser apresentados à comunidade.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32120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AC4FF"/>
                </a:solidFill>
                <a:latin typeface="Aptos"/>
              </a:defRPr>
            </a:pPr>
            <a:r>
              <a:t>O GitHub conecta pessoas e ideias por meio da programação.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320040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2860" cy="594360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61320" y="438912"/>
            <a:ext cx="201168" cy="109728"/>
          </a:xfrm>
          <a:prstGeom prst="parallelogram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853928" y="438912"/>
            <a:ext cx="201168" cy="109728"/>
          </a:xfrm>
          <a:prstGeom prst="parallelogram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1146536" y="438912"/>
            <a:ext cx="201168" cy="109728"/>
          </a:xfrm>
          <a:prstGeom prst="parallelogram">
            <a:avLst/>
          </a:prstGeom>
          <a:solidFill>
            <a:srgbClr val="2AC4FF"/>
          </a:solidFill>
          <a:ln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064240" cy="22860"/>
          </a:xfrm>
          <a:prstGeom prst="rect">
            <a:avLst/>
          </a:prstGeom>
          <a:solidFill>
            <a:srgbClr val="2370FF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6016752"/>
            <a:ext cx="22860" cy="402336"/>
          </a:xfrm>
          <a:prstGeom prst="rect">
            <a:avLst/>
          </a:prstGeom>
          <a:solidFill>
            <a:srgbClr val="7148FF"/>
          </a:solidFill>
          <a:ln>
            <a:solidFill>
              <a:srgbClr val="71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6080760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AEC0E0"/>
                </a:solidFill>
                <a:latin typeface="Aptos"/>
              </a:defRPr>
            </a:pPr>
            <a:r>
              <a:t>GITHUB  /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0467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2AC4FF"/>
                </a:solidFill>
                <a:latin typeface="Aptos"/>
              </a:defRPr>
            </a:pPr>
            <a:r>
              <a:t>06 / FONTES CONSULTADAS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078992"/>
            <a:ext cx="10698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Referências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Documentação oficial do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5852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AC4FF"/>
                </a:solidFill>
                <a:latin typeface="Aptos"/>
              </a:defRPr>
            </a:pPr>
            <a:r>
              <a:t>https://docs.github.com/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8FF"/>
                </a:solidFill>
                <a:latin typeface="Aptos"/>
              </a:defRPr>
            </a:pPr>
            <a:r>
              <a:t>Plataforma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5852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AC4FF"/>
                </a:solidFill>
                <a:latin typeface="Aptos"/>
              </a:defRPr>
            </a:pPr>
            <a:r>
              <a:t>https://github.com/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57400"/>
            <a:ext cx="3291840" cy="2423160"/>
          </a:xfrm>
          <a:prstGeom prst="roundRect">
            <a:avLst/>
          </a:prstGeom>
          <a:solidFill>
            <a:srgbClr val="0D1F44"/>
          </a:solidFill>
          <a:ln>
            <a:solidFill>
              <a:srgbClr val="23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788920"/>
            <a:ext cx="2651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OBRIGADO!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429000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AC4FF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